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57" r:id="rId6"/>
    <p:sldId id="279" r:id="rId7"/>
    <p:sldId id="281" r:id="rId8"/>
    <p:sldId id="280" r:id="rId9"/>
    <p:sldId id="293" r:id="rId10"/>
    <p:sldId id="303" r:id="rId11"/>
    <p:sldId id="297" r:id="rId12"/>
    <p:sldId id="292" r:id="rId13"/>
    <p:sldId id="295" r:id="rId14"/>
    <p:sldId id="296" r:id="rId15"/>
    <p:sldId id="289" r:id="rId16"/>
    <p:sldId id="300" r:id="rId17"/>
    <p:sldId id="301" r:id="rId18"/>
    <p:sldId id="298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70C5"/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734355-5757-4A13-A650-F354D28CB56D}" v="346" dt="2026-10-19T16:08:06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0655" autoAdjust="0"/>
  </p:normalViewPr>
  <p:slideViewPr>
    <p:cSldViewPr snapToGrid="0">
      <p:cViewPr varScale="1">
        <p:scale>
          <a:sx n="101" d="100"/>
          <a:sy n="101" d="100"/>
        </p:scale>
        <p:origin x="69" y="483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10/19/2026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324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6BEFA-C0B1-6E48-4D76-AF1CF54F3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983A3D-52F7-3342-A241-9114F7DBB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10360B-0B3A-187A-0E5C-0039DCC1AE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30717-6FEE-9C49-B932-3CFA60594E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686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transition spd="slow">
    <p:push dir="u"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0889" y="4320390"/>
            <a:ext cx="5150413" cy="381001"/>
          </a:xfrm>
        </p:spPr>
        <p:txBody>
          <a:bodyPr anchor="ctr"/>
          <a:lstStyle/>
          <a:p>
            <a:r>
              <a:rPr lang="en-US" dirty="0" err="1">
                <a:latin typeface="Cambria"/>
                <a:ea typeface="Cambria"/>
              </a:rPr>
              <a:t>MyLIBRARY</a:t>
            </a:r>
            <a:endParaRPr lang="it-IT" dirty="0" err="1">
              <a:latin typeface="Cambria"/>
              <a:ea typeface="Cambria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E893117-B155-5815-B310-52154D2B1D52}"/>
              </a:ext>
            </a:extLst>
          </p:cNvPr>
          <p:cNvSpPr txBox="1"/>
          <p:nvPr/>
        </p:nvSpPr>
        <p:spPr>
          <a:xfrm>
            <a:off x="6923314" y="4767943"/>
            <a:ext cx="53340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200">
                <a:latin typeface="Cambria"/>
                <a:ea typeface="Cambria"/>
              </a:rPr>
              <a:t>Progetto di </a:t>
            </a:r>
            <a:r>
              <a:rPr lang="it-IT" sz="1200">
                <a:latin typeface="Cambria"/>
                <a:ea typeface="Cambria"/>
                <a:cs typeface="+mn-lt"/>
              </a:rPr>
              <a:t>Ingegneria</a:t>
            </a:r>
            <a:r>
              <a:rPr lang="it-IT" sz="1200">
                <a:latin typeface="Cambria"/>
                <a:ea typeface="Cambria"/>
              </a:rPr>
              <a:t> del Software 2026/2027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4AC08E4-2222-2FDC-7F6B-082A747249A9}"/>
              </a:ext>
            </a:extLst>
          </p:cNvPr>
          <p:cNvSpPr txBox="1"/>
          <p:nvPr/>
        </p:nvSpPr>
        <p:spPr>
          <a:xfrm>
            <a:off x="6923313" y="5040085"/>
            <a:ext cx="27432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100" i="1">
                <a:latin typeface="Cambria"/>
                <a:ea typeface="Cambria"/>
              </a:rPr>
              <a:t>Alessandro Sabia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70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 anchor="b">
            <a:normAutofit/>
          </a:bodyPr>
          <a:lstStyle/>
          <a:p>
            <a:r>
              <a:rPr lang="en-US" dirty="0" err="1">
                <a:latin typeface="Cambria"/>
                <a:ea typeface="Cambria"/>
              </a:rPr>
              <a:t>Sommario</a:t>
            </a:r>
            <a:endParaRPr lang="it-IT">
              <a:latin typeface="Cambria"/>
              <a:ea typeface="Cambr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6106340" cy="28501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dirty="0" err="1">
                <a:latin typeface="Cambria"/>
                <a:ea typeface="Cambria"/>
              </a:rPr>
              <a:t>Requisiti</a:t>
            </a:r>
            <a:r>
              <a:rPr lang="en-US" dirty="0">
                <a:latin typeface="Cambria"/>
                <a:ea typeface="Cambria"/>
              </a:rPr>
              <a:t> </a:t>
            </a:r>
            <a:r>
              <a:rPr lang="en-US" dirty="0" err="1">
                <a:latin typeface="Cambria"/>
                <a:ea typeface="Cambria"/>
              </a:rPr>
              <a:t>progettuali</a:t>
            </a:r>
            <a:endParaRPr lang="en-US" dirty="0">
              <a:latin typeface="Cambria"/>
              <a:ea typeface="Cambria"/>
            </a:endParaRPr>
          </a:p>
          <a:p>
            <a:pPr marL="285750" indent="-285750">
              <a:buChar char="•"/>
            </a:pPr>
            <a:r>
              <a:rPr lang="en-US" dirty="0" err="1">
                <a:latin typeface="Cambria"/>
                <a:ea typeface="Cambria"/>
                <a:cs typeface="+mn-lt"/>
              </a:rPr>
              <a:t>Architettura</a:t>
            </a:r>
            <a:r>
              <a:rPr lang="en-US" dirty="0">
                <a:latin typeface="Cambria"/>
                <a:ea typeface="Cambria"/>
                <a:cs typeface="+mn-lt"/>
              </a:rPr>
              <a:t> del software e </a:t>
            </a:r>
            <a:r>
              <a:rPr lang="en-US" dirty="0" err="1">
                <a:latin typeface="Cambria"/>
                <a:ea typeface="Cambria"/>
                <a:cs typeface="+mn-lt"/>
              </a:rPr>
              <a:t>Diagrammi</a:t>
            </a:r>
            <a:r>
              <a:rPr lang="en-US" dirty="0">
                <a:latin typeface="Cambria"/>
                <a:ea typeface="Cambria"/>
                <a:cs typeface="+mn-lt"/>
              </a:rPr>
              <a:t> delle Classi</a:t>
            </a:r>
            <a:endParaRPr lang="en-US" dirty="0">
              <a:latin typeface="Cambria"/>
              <a:ea typeface="Cambria"/>
            </a:endParaRPr>
          </a:p>
          <a:p>
            <a:pPr marL="285750" indent="-285750">
              <a:buChar char="•"/>
            </a:pPr>
            <a:r>
              <a:rPr lang="en-US" dirty="0" err="1">
                <a:latin typeface="Cambria"/>
                <a:ea typeface="Cambria"/>
              </a:rPr>
              <a:t>Diagrammi</a:t>
            </a:r>
            <a:r>
              <a:rPr lang="en-US" dirty="0">
                <a:latin typeface="Cambria"/>
                <a:ea typeface="Cambria"/>
              </a:rPr>
              <a:t> di </a:t>
            </a:r>
            <a:r>
              <a:rPr lang="en-US" dirty="0" err="1">
                <a:latin typeface="Cambria"/>
                <a:ea typeface="Cambria"/>
              </a:rPr>
              <a:t>sequenza</a:t>
            </a:r>
            <a:endParaRPr lang="en-US" dirty="0">
              <a:latin typeface="Cambria"/>
              <a:ea typeface="Cambria"/>
            </a:endParaRPr>
          </a:p>
          <a:p>
            <a:pPr marL="285750" indent="-285750">
              <a:buChar char="•"/>
            </a:pPr>
            <a:r>
              <a:rPr lang="en-US" dirty="0" err="1">
                <a:latin typeface="Cambria"/>
                <a:ea typeface="Cambria"/>
              </a:rPr>
              <a:t>Cambiamenti</a:t>
            </a:r>
            <a:r>
              <a:rPr lang="en-US" dirty="0">
                <a:latin typeface="Cambria"/>
                <a:ea typeface="Cambria"/>
              </a:rPr>
              <a:t> in </a:t>
            </a:r>
            <a:r>
              <a:rPr lang="en-US" dirty="0" err="1">
                <a:latin typeface="Cambria"/>
                <a:ea typeface="Cambria"/>
              </a:rPr>
              <a:t>corso</a:t>
            </a:r>
            <a:r>
              <a:rPr lang="en-US" dirty="0">
                <a:latin typeface="Cambria"/>
                <a:ea typeface="Cambria"/>
              </a:rPr>
              <a:t> </a:t>
            </a:r>
            <a:r>
              <a:rPr lang="en-US" dirty="0" err="1">
                <a:latin typeface="Cambria"/>
                <a:ea typeface="Cambria"/>
              </a:rPr>
              <a:t>d'opera</a:t>
            </a:r>
            <a:endParaRPr lang="en-US" dirty="0">
              <a:latin typeface="Cambria"/>
              <a:ea typeface="Cambria"/>
            </a:endParaRPr>
          </a:p>
          <a:p>
            <a:pPr marL="285750" indent="-285750">
              <a:buChar char="•"/>
            </a:pPr>
            <a:r>
              <a:rPr lang="en-US">
                <a:latin typeface="Cambria"/>
                <a:ea typeface="Cambria"/>
              </a:rPr>
              <a:t> Testing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70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FA5E-469B-2BFC-9D4E-BD1EC6E48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680"/>
            <a:ext cx="4179570" cy="3376691"/>
          </a:xfrm>
        </p:spPr>
        <p:txBody>
          <a:bodyPr/>
          <a:lstStyle/>
          <a:p>
            <a:r>
              <a:rPr lang="en-US" dirty="0" err="1">
                <a:latin typeface="Cambria"/>
                <a:ea typeface="Cambria"/>
              </a:rPr>
              <a:t>Requisiti</a:t>
            </a:r>
            <a:br>
              <a:rPr lang="en-US" dirty="0">
                <a:latin typeface="Cambria"/>
                <a:ea typeface="Cambria"/>
              </a:rPr>
            </a:br>
            <a:r>
              <a:rPr lang="en-US" dirty="0" err="1">
                <a:latin typeface="Cambria"/>
                <a:ea typeface="Cambria"/>
              </a:rPr>
              <a:t>progettuali</a:t>
            </a:r>
            <a:endParaRPr lang="it-IT">
              <a:latin typeface="Cambria"/>
              <a:ea typeface="Cambria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4268F6-A361-9907-F87F-9C4377EC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45913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752" y="87047"/>
            <a:ext cx="8425048" cy="835783"/>
          </a:xfrm>
        </p:spPr>
        <p:txBody>
          <a:bodyPr/>
          <a:lstStyle/>
          <a:p>
            <a:r>
              <a:rPr lang="en-US"/>
              <a:t>Casi d'uso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437463" y="1021978"/>
            <a:ext cx="4204311" cy="5698001"/>
          </a:xfrm>
        </p:spPr>
        <p:txBody>
          <a:bodyPr vert="horz" lIns="91440" tIns="0" rIns="91440" bIns="45720" rtlCol="0" anchor="t">
            <a:normAutofit fontScale="77500" lnSpcReduction="20000"/>
          </a:bodyPr>
          <a:lstStyle/>
          <a:p>
            <a:pPr marL="285750" indent="-285750">
              <a:buFont typeface="Arial,Sans-Serif"/>
              <a:buChar char="•"/>
            </a:pPr>
            <a:r>
              <a:rPr lang="it-IT">
                <a:latin typeface="Cambria"/>
                <a:ea typeface="Cambria"/>
              </a:rPr>
              <a:t>UC01: Consultare il catalogo libri</a:t>
            </a:r>
            <a:endParaRPr lang="en-US">
              <a:latin typeface="Cambria"/>
              <a:ea typeface="Cambria"/>
            </a:endParaRPr>
          </a:p>
          <a:p>
            <a:pPr marL="285750" indent="-285750">
              <a:buFont typeface="Arial,Sans-Serif"/>
              <a:buChar char="•"/>
            </a:pPr>
            <a:r>
              <a:rPr lang="it-IT">
                <a:latin typeface="Cambria"/>
                <a:ea typeface="Cambria"/>
              </a:rPr>
              <a:t>UC07: Registrare un lettore</a:t>
            </a:r>
          </a:p>
          <a:p>
            <a:pPr marL="285750" indent="-285750">
              <a:buFont typeface="Arial,Sans-Serif"/>
              <a:buChar char="•"/>
            </a:pPr>
            <a:r>
              <a:rPr lang="it-IT">
                <a:latin typeface="Cambria"/>
                <a:ea typeface="Cambria"/>
              </a:rPr>
              <a:t>UC06: Consultare l'anagrafica lettori</a:t>
            </a:r>
            <a:endParaRPr lang="en-US">
              <a:latin typeface="Cambria"/>
              <a:ea typeface="Cambria"/>
            </a:endParaRPr>
          </a:p>
          <a:p>
            <a:pPr marL="285750" indent="-285750">
              <a:buFont typeface="Arial,Sans-Serif"/>
              <a:buChar char="•"/>
            </a:pPr>
            <a:r>
              <a:rPr lang="it-IT">
                <a:latin typeface="Cambria"/>
                <a:ea typeface="Cambria"/>
              </a:rPr>
              <a:t>UC05: Rimuovere un libro</a:t>
            </a:r>
            <a:endParaRPr lang="en-US">
              <a:latin typeface="Cambria"/>
              <a:ea typeface="Cambria"/>
            </a:endParaRPr>
          </a:p>
          <a:p>
            <a:pPr marL="285750" indent="-285750">
              <a:buFont typeface="Arial,Sans-Serif"/>
              <a:buChar char="•"/>
            </a:pPr>
            <a:r>
              <a:rPr lang="it-IT">
                <a:latin typeface="Cambria"/>
                <a:ea typeface="Cambria"/>
              </a:rPr>
              <a:t>UC04: Modificare un libro</a:t>
            </a:r>
          </a:p>
          <a:p>
            <a:pPr marL="285750" indent="-285750">
              <a:buFont typeface="Arial,Sans-Serif"/>
              <a:buChar char="•"/>
            </a:pPr>
            <a:r>
              <a:rPr lang="it-IT">
                <a:latin typeface="Cambria"/>
                <a:ea typeface="Cambria"/>
              </a:rPr>
              <a:t>UC03: Consultare il dettaglio di un libro</a:t>
            </a:r>
          </a:p>
          <a:p>
            <a:pPr marL="285750" indent="-285750">
              <a:buFont typeface="Arial,Sans-Serif"/>
              <a:buChar char="•"/>
            </a:pPr>
            <a:r>
              <a:rPr lang="it-IT">
                <a:latin typeface="Cambria"/>
                <a:ea typeface="Cambria"/>
              </a:rPr>
              <a:t>UC02: Inserire un libro</a:t>
            </a:r>
          </a:p>
          <a:p>
            <a:pPr marL="285750" indent="-285750">
              <a:buFont typeface="Arial,Sans-Serif"/>
              <a:buChar char="•"/>
            </a:pPr>
            <a:r>
              <a:rPr lang="it-IT">
                <a:latin typeface="Cambria"/>
                <a:ea typeface="Cambria"/>
              </a:rPr>
              <a:t>UC08: Consultare la scheda di un lettore</a:t>
            </a:r>
          </a:p>
          <a:p>
            <a:pPr marL="285750" indent="-285750">
              <a:buFont typeface="Arial,Sans-Serif"/>
              <a:buChar char="•"/>
            </a:pPr>
            <a:r>
              <a:rPr lang="it-IT">
                <a:latin typeface="Cambria"/>
                <a:ea typeface="Cambria"/>
              </a:rPr>
              <a:t>UC09: Modificare un lettore</a:t>
            </a:r>
          </a:p>
          <a:p>
            <a:pPr marL="285750" indent="-285750">
              <a:buFont typeface="Arial,Sans-Serif"/>
              <a:buChar char="•"/>
            </a:pPr>
            <a:r>
              <a:rPr lang="it-IT">
                <a:latin typeface="Cambria"/>
                <a:ea typeface="Cambria"/>
              </a:rPr>
              <a:t>UC10: Rimuovere un lettore</a:t>
            </a:r>
          </a:p>
          <a:p>
            <a:pPr marL="285750" indent="-285750">
              <a:buFont typeface="Arial,Sans-Serif"/>
              <a:buChar char="•"/>
            </a:pPr>
            <a:r>
              <a:rPr lang="it-IT">
                <a:latin typeface="Cambria"/>
                <a:ea typeface="Cambria"/>
              </a:rPr>
              <a:t>UC11: Riabilitare un lettore bloccato</a:t>
            </a:r>
          </a:p>
          <a:p>
            <a:pPr marL="285750" indent="-285750">
              <a:buFont typeface="Arial,Sans-Serif"/>
              <a:buChar char="•"/>
            </a:pPr>
            <a:r>
              <a:rPr lang="it-IT">
                <a:latin typeface="Cambria"/>
                <a:ea typeface="Cambria"/>
              </a:rPr>
              <a:t>UC12: Registrare un prestito</a:t>
            </a:r>
          </a:p>
          <a:p>
            <a:pPr marL="285750" indent="-285750">
              <a:buFont typeface="Arial,Sans-Serif"/>
              <a:buChar char="•"/>
            </a:pPr>
            <a:r>
              <a:rPr lang="it-IT">
                <a:latin typeface="Cambria"/>
                <a:ea typeface="Cambria"/>
              </a:rPr>
              <a:t>UC13: Registrare una restituzione</a:t>
            </a:r>
          </a:p>
          <a:p>
            <a:pPr marL="285750" indent="-285750">
              <a:buFont typeface="Arial,Sans-Serif"/>
              <a:buChar char="•"/>
            </a:pPr>
            <a:r>
              <a:rPr lang="it-IT">
                <a:latin typeface="Cambria"/>
                <a:ea typeface="Cambria"/>
              </a:rPr>
              <a:t>UC14: Dichiarare lo smarrimento</a:t>
            </a:r>
          </a:p>
          <a:p>
            <a:pPr marL="285750" indent="-285750">
              <a:buFont typeface="Arial,Sans-Serif"/>
              <a:buChar char="•"/>
            </a:pPr>
            <a:r>
              <a:rPr lang="it-IT">
                <a:latin typeface="Cambria"/>
                <a:ea typeface="Cambria"/>
              </a:rPr>
              <a:t>UC15: Consultare l'elenco globale dei prestiti</a:t>
            </a:r>
          </a:p>
          <a:p>
            <a:pPr marL="285750" indent="-285750">
              <a:buFont typeface="Arial,Sans-Serif"/>
              <a:buChar char="•"/>
            </a:pPr>
            <a:r>
              <a:rPr lang="it-IT">
                <a:latin typeface="Cambria"/>
                <a:ea typeface="Cambria"/>
              </a:rPr>
              <a:t>UC16: Consultare il dettaglio di un prestito</a:t>
            </a:r>
          </a:p>
          <a:p>
            <a:pPr marL="285750" indent="-285750">
              <a:buFont typeface="Arial,Sans-Serif"/>
              <a:buChar char="•"/>
            </a:pPr>
            <a:r>
              <a:rPr lang="it-IT">
                <a:latin typeface="Cambria"/>
                <a:ea typeface="Cambria"/>
              </a:rPr>
              <a:t>UC17: Consultare la bacheca</a:t>
            </a:r>
          </a:p>
          <a:p>
            <a:pPr marL="285750" indent="-285750">
              <a:buFont typeface="Arial,Sans-Serif"/>
              <a:buChar char="•"/>
            </a:pPr>
            <a:r>
              <a:rPr lang="it-IT">
                <a:latin typeface="Cambria"/>
                <a:ea typeface="Cambria"/>
              </a:rPr>
              <a:t>UC18: Salvare l'archivio</a:t>
            </a:r>
          </a:p>
          <a:p>
            <a:pPr marL="285750" indent="-285750">
              <a:buFont typeface="Arial,Sans-Serif"/>
              <a:buChar char="•"/>
            </a:pPr>
            <a:r>
              <a:rPr lang="it-IT">
                <a:latin typeface="Cambria"/>
                <a:ea typeface="Cambria"/>
              </a:rPr>
              <a:t>UC19: Caricare l'archivio</a:t>
            </a:r>
          </a:p>
          <a:p>
            <a:pPr marL="285750" indent="-285750">
              <a:buFont typeface="Arial,Sans-Serif"/>
              <a:buChar char="•"/>
            </a:pPr>
            <a:endParaRPr lang="it-IT" dirty="0">
              <a:latin typeface="Cambria"/>
              <a:ea typeface="Cambria"/>
            </a:endParaRPr>
          </a:p>
          <a:p>
            <a:pPr marL="285750" indent="-285750">
              <a:buFont typeface="Arial,Sans-Serif"/>
              <a:buChar char="•"/>
            </a:pPr>
            <a:endParaRPr lang="it-IT" dirty="0">
              <a:latin typeface="Cambria"/>
              <a:ea typeface="Cambria"/>
            </a:endParaRPr>
          </a:p>
          <a:p>
            <a:endParaRPr lang="en-US" dirty="0">
              <a:latin typeface="Cambria"/>
              <a:ea typeface="Cambria"/>
            </a:endParaRPr>
          </a:p>
          <a:p>
            <a:endParaRPr lang="en-US" dirty="0">
              <a:latin typeface="Cambria"/>
              <a:ea typeface="Cambria"/>
            </a:endParaRP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8F6B2AE9-DDE4-FD99-A235-3B39EEE2148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410173" y="3251595"/>
            <a:ext cx="3943627" cy="3234264"/>
          </a:xfrm>
        </p:spPr>
        <p:txBody>
          <a:bodyPr vert="horz" lIns="91440" tIns="0" rIns="91440" bIns="45720" rtlCol="0" anchor="t">
            <a:normAutofit/>
          </a:bodyPr>
          <a:lstStyle/>
          <a:p>
            <a:endParaRPr lang="it-IT" dirty="0"/>
          </a:p>
          <a:p>
            <a:pPr marL="285750" indent="-285750">
              <a:buFont typeface="Arial,Sans-Serif"/>
              <a:buChar char="•"/>
            </a:pPr>
            <a:endParaRPr lang="it-IT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94BDA60-A609-B771-8E76-3CCB98E23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046" y="0"/>
            <a:ext cx="537777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70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spcBef>
                <a:spcPts val="1000"/>
              </a:spcBef>
            </a:pPr>
            <a:r>
              <a:rPr lang="en-US" dirty="0" err="1">
                <a:latin typeface="Cambria"/>
                <a:ea typeface="Cambria"/>
              </a:rPr>
              <a:t>Architettura</a:t>
            </a:r>
            <a:r>
              <a:rPr lang="en-US" dirty="0">
                <a:latin typeface="Cambria"/>
                <a:ea typeface="Cambria"/>
              </a:rPr>
              <a:t> del software</a:t>
            </a:r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9852C91-9FCF-81C1-CC90-ABD6B811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433367F4-4DD6-6CEE-D6E8-BC667AE1C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60" y="-2351"/>
            <a:ext cx="7288282" cy="627256"/>
          </a:xfrm>
        </p:spPr>
        <p:txBody>
          <a:bodyPr/>
          <a:lstStyle/>
          <a:p>
            <a:r>
              <a:rPr lang="it-IT">
                <a:latin typeface="Cambria"/>
                <a:ea typeface="Cambria"/>
              </a:rPr>
              <a:t>Architettura del Software</a:t>
            </a:r>
          </a:p>
        </p:txBody>
      </p:sp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4EDA9ADB-F40E-9405-AAD4-D39031B353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71846" y="657551"/>
            <a:ext cx="7517008" cy="588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38040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70C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F65149-A55F-21DF-7B7E-D6CD7742B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4528C-FE2D-C951-AD82-F08034581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0535" y="1699795"/>
            <a:ext cx="4360043" cy="3457971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spcBef>
                <a:spcPts val="1000"/>
              </a:spcBef>
            </a:pPr>
            <a:r>
              <a:rPr lang="en-US" dirty="0">
                <a:latin typeface="Cambria"/>
                <a:ea typeface="Cambria"/>
              </a:rPr>
              <a:t>  </a:t>
            </a:r>
            <a:r>
              <a:rPr lang="en-US" dirty="0" err="1">
                <a:latin typeface="Cambria"/>
                <a:ea typeface="Cambria"/>
              </a:rPr>
              <a:t>Diagrammi</a:t>
            </a:r>
            <a:r>
              <a:rPr lang="en-US" dirty="0">
                <a:latin typeface="Cambria"/>
                <a:ea typeface="Cambria"/>
              </a:rPr>
              <a:t>    delle Classi</a:t>
            </a:r>
            <a:endParaRPr lang="it-IT">
              <a:latin typeface="Cambria"/>
              <a:ea typeface="Cambria"/>
            </a:endParaRPr>
          </a:p>
          <a:p>
            <a:pPr marL="285750" indent="-285750">
              <a:lnSpc>
                <a:spcPct val="150000"/>
              </a:lnSpc>
              <a:spcBef>
                <a:spcPts val="1000"/>
              </a:spcBef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9983866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9852C91-9FCF-81C1-CC90-ABD6B811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E86BD1F0-1553-C72C-B20F-42FB21FBF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214" y="97911"/>
            <a:ext cx="7288282" cy="647310"/>
          </a:xfrm>
        </p:spPr>
        <p:txBody>
          <a:bodyPr/>
          <a:lstStyle/>
          <a:p>
            <a:r>
              <a:rPr lang="it-IT">
                <a:latin typeface="Cambria"/>
                <a:ea typeface="Cambria"/>
              </a:rPr>
              <a:t>Diagramma UI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86734E49-8B03-893F-32C8-F4E482585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624" y="736684"/>
            <a:ext cx="6181725" cy="587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7192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70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914AA4-C814-5382-D91C-6303FB938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750" y="2580731"/>
            <a:ext cx="3298371" cy="1325563"/>
          </a:xfrm>
        </p:spPr>
        <p:txBody>
          <a:bodyPr>
            <a:noAutofit/>
          </a:bodyPr>
          <a:lstStyle/>
          <a:p>
            <a:r>
              <a:rPr lang="it-IT" sz="3600" dirty="0">
                <a:latin typeface="Cambria"/>
                <a:ea typeface="Cambria"/>
              </a:rPr>
              <a:t>Diagrammi di sequenza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E6CC15A-3591-FE64-C9A1-6F431B77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24054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5CAAE8-9035-BA3E-B773-8FDCAFD1B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95574"/>
            <a:ext cx="7288282" cy="656142"/>
          </a:xfrm>
        </p:spPr>
        <p:txBody>
          <a:bodyPr/>
          <a:lstStyle/>
          <a:p>
            <a:r>
              <a:rPr lang="it-IT">
                <a:latin typeface="Cambria"/>
                <a:ea typeface="Cambria"/>
              </a:rPr>
              <a:t>REGISTRAZIONE PRESTITO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9852C91-9FCF-81C1-CC90-ABD6B811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6A872378-7924-A8BA-588B-4D60B2D72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278" y="1506955"/>
            <a:ext cx="7819523" cy="458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4307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5CAAE8-9035-BA3E-B773-8FDCAFD1B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95574"/>
            <a:ext cx="7288282" cy="656142"/>
          </a:xfrm>
        </p:spPr>
        <p:txBody>
          <a:bodyPr>
            <a:normAutofit/>
          </a:bodyPr>
          <a:lstStyle/>
          <a:p>
            <a:r>
              <a:rPr lang="it-IT">
                <a:latin typeface="Cambria"/>
                <a:ea typeface="Cambria"/>
              </a:rPr>
              <a:t>Caricamento dell'archivio 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9852C91-9FCF-81C1-CC90-ABD6B811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FFD5808-87FA-9DD4-0A9D-9A53A47B7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79" y="955508"/>
            <a:ext cx="8386010" cy="564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70427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70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F5AF91-347C-1AD5-9382-66B0990EB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19207" y="542109"/>
            <a:ext cx="4422024" cy="3376691"/>
          </a:xfrm>
        </p:spPr>
        <p:txBody>
          <a:bodyPr/>
          <a:lstStyle/>
          <a:p>
            <a:r>
              <a:rPr lang="it-IT" dirty="0">
                <a:latin typeface="Cambria"/>
                <a:ea typeface="Cambria"/>
              </a:rPr>
              <a:t>Cambiamenti in corso d'opera</a:t>
            </a:r>
          </a:p>
        </p:txBody>
      </p:sp>
    </p:spTree>
    <p:extLst>
      <p:ext uri="{BB962C8B-B14F-4D97-AF65-F5344CB8AC3E}">
        <p14:creationId xmlns:p14="http://schemas.microsoft.com/office/powerpoint/2010/main" val="175135117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44726B-C8EB-4785-2E8B-B1AEB18C6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8367782" cy="2121177"/>
          </a:xfrm>
        </p:spPr>
        <p:txBody>
          <a:bodyPr>
            <a:normAutofit/>
          </a:bodyPr>
          <a:lstStyle/>
          <a:p>
            <a:r>
              <a:rPr lang="it-IT" sz="3600">
                <a:latin typeface="Cambria"/>
                <a:ea typeface="Cambria"/>
              </a:rPr>
              <a:t>Principi di buona progettazione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FECF4AA-6FAD-D184-4BE3-CFD05A39A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7" name="Immagine 6" descr="Immagine che contiene testo, Carattere, schermata, numero&#10;&#10;Descrizione generata automaticamente">
            <a:extLst>
              <a:ext uri="{FF2B5EF4-FFF2-40B4-BE49-F238E27FC236}">
                <a16:creationId xmlns:a16="http://schemas.microsoft.com/office/drawing/2014/main" id="{8429C59A-0E93-1E25-2B5D-DCFC4446C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270" y="2875416"/>
            <a:ext cx="7496175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29401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A4BDFF-AD23-2145-5A20-4A5DD0CCC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747" y="839860"/>
            <a:ext cx="7288282" cy="873856"/>
          </a:xfrm>
        </p:spPr>
        <p:txBody>
          <a:bodyPr>
            <a:normAutofit/>
          </a:bodyPr>
          <a:lstStyle/>
          <a:p>
            <a:r>
              <a:rPr lang="it-IT" sz="3600" dirty="0" err="1">
                <a:latin typeface="Cambria"/>
                <a:ea typeface="Cambria"/>
              </a:rPr>
              <a:t>refactoring</a:t>
            </a:r>
            <a:endParaRPr lang="it-IT" sz="3600">
              <a:latin typeface="Cambria"/>
              <a:ea typeface="Cambria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C4C3DC5-0728-5A99-3CA8-BFEAF2BD7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4" name="Segnaposto contenuto 13" descr="Immagine che contiene testo, schermata, cerchio, diagramma&#10;&#10;Descrizione generata automaticamente">
            <a:extLst>
              <a:ext uri="{FF2B5EF4-FFF2-40B4-BE49-F238E27FC236}">
                <a16:creationId xmlns:a16="http://schemas.microsoft.com/office/drawing/2014/main" id="{E644FCFA-64DE-5A5C-B4FD-333977EC97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428636" y="1609671"/>
            <a:ext cx="7529284" cy="4747757"/>
          </a:xfr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957764009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251114-DC85-1A01-F747-18E89213B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489" y="-265040"/>
            <a:ext cx="7288282" cy="2121177"/>
          </a:xfrm>
        </p:spPr>
        <p:txBody>
          <a:bodyPr>
            <a:normAutofit/>
          </a:bodyPr>
          <a:lstStyle/>
          <a:p>
            <a:r>
              <a:rPr lang="it-IT" sz="3600">
                <a:latin typeface="Cambria"/>
                <a:ea typeface="Cambria"/>
              </a:rPr>
              <a:t>testing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E5F2FA4-C0DD-46B3-2FA8-11E0221F1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9" name="Immagine 8" descr="File:JUnit 5 Banner.png - Wikipedia">
            <a:extLst>
              <a:ext uri="{FF2B5EF4-FFF2-40B4-BE49-F238E27FC236}">
                <a16:creationId xmlns:a16="http://schemas.microsoft.com/office/drawing/2014/main" id="{A6F0D086-B611-28A7-4A4A-B73784A26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100" y="1695182"/>
            <a:ext cx="2287857" cy="698655"/>
          </a:xfrm>
          <a:prstGeom prst="rect">
            <a:avLst/>
          </a:prstGeom>
          <a:ln>
            <a:noFill/>
          </a:ln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E8B7566B-2AE3-7E32-ACFC-9E1E9E837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862" y="2047804"/>
            <a:ext cx="3609975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432228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70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>
                <a:latin typeface="Cambria"/>
                <a:ea typeface="Cambria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2693818"/>
            <a:ext cx="4179570" cy="2850181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n-US" dirty="0"/>
          </a:p>
          <a:p>
            <a:r>
              <a:rPr lang="en-US" dirty="0">
                <a:latin typeface="Cambria"/>
                <a:ea typeface="Cambria"/>
              </a:rPr>
              <a:t>Alessandro Sabia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442</Words>
  <Application>Microsoft Office PowerPoint</Application>
  <PresentationFormat>Widescreen</PresentationFormat>
  <Paragraphs>137</Paragraphs>
  <Slides>16</Slides>
  <Notes>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17" baseType="lpstr">
      <vt:lpstr>Custom</vt:lpstr>
      <vt:lpstr>MyLIBRARY</vt:lpstr>
      <vt:lpstr>Sommario</vt:lpstr>
      <vt:lpstr>Requisiti progettuali</vt:lpstr>
      <vt:lpstr>Casi d'uso</vt:lpstr>
      <vt:lpstr>Architettura del software</vt:lpstr>
      <vt:lpstr>Architettura del Software</vt:lpstr>
      <vt:lpstr>  Diagrammi    delle Classi </vt:lpstr>
      <vt:lpstr>Diagramma UI</vt:lpstr>
      <vt:lpstr>Diagrammi di sequenza</vt:lpstr>
      <vt:lpstr>REGISTRAZIONE PRESTITO</vt:lpstr>
      <vt:lpstr>Caricamento dell'archivio </vt:lpstr>
      <vt:lpstr>Cambiamenti in corso d'opera</vt:lpstr>
      <vt:lpstr>Principi di buona progettazione</vt:lpstr>
      <vt:lpstr>refactoring</vt:lpstr>
      <vt:lpstr>testing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612</cp:revision>
  <dcterms:created xsi:type="dcterms:W3CDTF">2024-12-15T15:56:27Z</dcterms:created>
  <dcterms:modified xsi:type="dcterms:W3CDTF">2026-10-19T16:08:56Z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